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5462-17A0-4038-99A6-B2B9EE1CEFFA}" type="datetimeFigureOut">
              <a:rPr lang="pt-BR" smtClean="0"/>
              <a:t>02/06/2020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01A6-FD10-45E9-8FE9-34B96F6A672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5462-17A0-4038-99A6-B2B9EE1CEFFA}" type="datetimeFigureOut">
              <a:rPr lang="pt-BR" smtClean="0"/>
              <a:t>02/06/2020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01A6-FD10-45E9-8FE9-34B96F6A672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5462-17A0-4038-99A6-B2B9EE1CEFFA}" type="datetimeFigureOut">
              <a:rPr lang="pt-BR" smtClean="0"/>
              <a:t>02/06/2020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01A6-FD10-45E9-8FE9-34B96F6A672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5462-17A0-4038-99A6-B2B9EE1CEFFA}" type="datetimeFigureOut">
              <a:rPr lang="pt-BR" smtClean="0"/>
              <a:t>02/06/2020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01A6-FD10-45E9-8FE9-34B96F6A672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5462-17A0-4038-99A6-B2B9EE1CEFFA}" type="datetimeFigureOut">
              <a:rPr lang="pt-BR" smtClean="0"/>
              <a:t>02/06/2020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01A6-FD10-45E9-8FE9-34B96F6A672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5462-17A0-4038-99A6-B2B9EE1CEFFA}" type="datetimeFigureOut">
              <a:rPr lang="pt-BR" smtClean="0"/>
              <a:t>02/06/2020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01A6-FD10-45E9-8FE9-34B96F6A672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5462-17A0-4038-99A6-B2B9EE1CEFFA}" type="datetimeFigureOut">
              <a:rPr lang="pt-BR" smtClean="0"/>
              <a:t>02/06/2020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01A6-FD10-45E9-8FE9-34B96F6A672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5462-17A0-4038-99A6-B2B9EE1CEFFA}" type="datetimeFigureOut">
              <a:rPr lang="pt-BR" smtClean="0"/>
              <a:t>02/06/2020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01A6-FD10-45E9-8FE9-34B96F6A672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com Único Canto Aparado e Arredondado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ângulo retângulo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5462-17A0-4038-99A6-B2B9EE1CEFFA}" type="datetimeFigureOut">
              <a:rPr lang="pt-BR" smtClean="0"/>
              <a:t>02/06/2020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43D01A6-FD10-45E9-8FE9-34B96F6A6729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10" name="Forma liv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a liv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5462-17A0-4038-99A6-B2B9EE1CEFFA}" type="datetimeFigureOut">
              <a:rPr lang="pt-BR" smtClean="0"/>
              <a:t>02/06/2020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01A6-FD10-45E9-8FE9-34B96F6A672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5462-17A0-4038-99A6-B2B9EE1CEFFA}" type="datetimeFigureOut">
              <a:rPr lang="pt-BR" smtClean="0"/>
              <a:t>02/06/2020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01A6-FD10-45E9-8FE9-34B96F6A672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9905462-17A0-4038-99A6-B2B9EE1CEFFA}" type="datetimeFigureOut">
              <a:rPr lang="pt-BR" smtClean="0"/>
              <a:t>02/06/2020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43D01A6-FD10-45E9-8FE9-34B96F6A6729}" type="slidenum">
              <a:rPr lang="pt-BR" smtClean="0"/>
              <a:t>‹nº›</a:t>
            </a:fld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a liv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a liv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uper.abril.com.br/mundo-estranho/o-que-e-ergonomia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71472" y="285728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Norma Regulamentadora 17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1928802"/>
            <a:ext cx="9144000" cy="3429024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 </a:t>
            </a:r>
            <a:r>
              <a:rPr lang="pt-BR" sz="2400" b="1" dirty="0"/>
              <a:t>NR17</a:t>
            </a:r>
            <a:r>
              <a:rPr lang="pt-BR" sz="2400" dirty="0"/>
              <a:t> trata de forma específica das questões </a:t>
            </a:r>
            <a:r>
              <a:rPr lang="pt-BR" sz="2400" dirty="0">
                <a:hlinkClick r:id="rId2"/>
              </a:rPr>
              <a:t>ergonômicas</a:t>
            </a:r>
            <a:r>
              <a:rPr lang="pt-BR" sz="2400" dirty="0"/>
              <a:t> no ambiente de trabalho. É importante frisar que a ergonomia é uma área que estuda as interações entre os seres humanos e outros elementos de um sistema, tendo como objetivo otimizar o bem-estar humano e o desempenho geral de um determinado sistema.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Objetivo da NR17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/>
              <a:t>O objetivo central da </a:t>
            </a:r>
            <a:r>
              <a:rPr lang="pt-BR" sz="2800" b="1" dirty="0"/>
              <a:t>NR17</a:t>
            </a:r>
            <a:r>
              <a:rPr lang="pt-BR" sz="2800" dirty="0"/>
              <a:t> é definir parâmetros e procedimentos que assegurem as melhores condições de ambiente aos trabalhadores, preservando a segurança, conforto e favorecendo os melhores níveis de desempenho nas tarefas cotidianas. Em suma, a ergonomia visa melhorar as condições de trabalho e fazer com que todas as atividades da empresa sejam desempenhadas com maior qualidade.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34952" y="642918"/>
            <a:ext cx="7909014" cy="5483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NORMA 1</a:t>
            </a:r>
            <a:r>
              <a:rPr lang="pt-BR" b="1" dirty="0"/>
              <a:t/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 fontAlgn="base"/>
            <a:r>
              <a:rPr lang="pt-BR" dirty="0"/>
              <a:t>1 – De acordo com as regras básicas da </a:t>
            </a:r>
            <a:r>
              <a:rPr lang="pt-BR" b="1" dirty="0"/>
              <a:t>NR17</a:t>
            </a:r>
            <a:r>
              <a:rPr lang="pt-BR" dirty="0"/>
              <a:t>, as condições de trabalho nas empresas abrangem aspectos associados ao levantamento, transporte e descarga de materiais, ao mobiliário, aos equipamentos utilizados, às condições no ambiente no trabalho e aos métodos e formas de organização do trabalho.</a:t>
            </a:r>
          </a:p>
          <a:p>
            <a:pPr algn="just" fontAlgn="base"/>
            <a:r>
              <a:rPr lang="pt-BR" dirty="0"/>
              <a:t>Conforme estabelecido por essa norma, as empresas são responsáveis por analisar as questões ergonômicas do trabalho considerando as características do ambiente, o tipo de função exercida e as características </a:t>
            </a:r>
            <a:r>
              <a:rPr lang="pt-BR" dirty="0" err="1"/>
              <a:t>psicofisiológicas</a:t>
            </a:r>
            <a:r>
              <a:rPr lang="pt-BR" dirty="0"/>
              <a:t> dos trabalhadores, tornando possível a plena adaptação do trabalhador ao ambiente no qual ele está inserido.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14480" y="0"/>
            <a:ext cx="8229600" cy="1143000"/>
          </a:xfrm>
        </p:spPr>
        <p:txBody>
          <a:bodyPr/>
          <a:lstStyle/>
          <a:p>
            <a:r>
              <a:rPr lang="pt-BR" b="1" dirty="0" smtClean="0"/>
              <a:t>NORMA 2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285860"/>
            <a:ext cx="8686800" cy="5572140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pt-BR" dirty="0"/>
              <a:t>2 – Na </a:t>
            </a:r>
            <a:r>
              <a:rPr lang="pt-BR" b="1" dirty="0"/>
              <a:t>NR17</a:t>
            </a:r>
            <a:r>
              <a:rPr lang="pt-BR" dirty="0"/>
              <a:t> estão contidas as seguintes diretrizes básicas quanto ao transporte de cargas:</a:t>
            </a:r>
          </a:p>
          <a:p>
            <a:pPr fontAlgn="base"/>
            <a:r>
              <a:rPr lang="pt-BR" dirty="0"/>
              <a:t>O transporte manual de cargas é definido como todo tipo de transporte em que o peso da carga é suportado totalmente por apenas um trabalhador, o que abrange também o levantamento e a deposição da carga;</a:t>
            </a:r>
          </a:p>
          <a:p>
            <a:pPr fontAlgn="base"/>
            <a:r>
              <a:rPr lang="pt-BR" dirty="0"/>
              <a:t>O que define um transporte manual de cargas é toda atividade ou operação que é feita de forma contínua, ou que inclua (mesmo que de maneira não </a:t>
            </a:r>
            <a:r>
              <a:rPr lang="pt-BR" dirty="0" err="1"/>
              <a:t>frequente</a:t>
            </a:r>
            <a:r>
              <a:rPr lang="pt-BR" dirty="0"/>
              <a:t>), o transporte manual de cargas;</a:t>
            </a:r>
          </a:p>
          <a:p>
            <a:pPr fontAlgn="base"/>
            <a:r>
              <a:rPr lang="pt-BR" dirty="0"/>
              <a:t>O trabalhador definido como jovem é aquele com idade menor que 18 anos e igual ou superior a 14 anos;</a:t>
            </a:r>
          </a:p>
          <a:p>
            <a:pPr fontAlgn="base"/>
            <a:r>
              <a:rPr lang="pt-BR" dirty="0"/>
              <a:t>A atividade de transporte manual de cargas não deve ser exercida por pessoas nas quais o peso comprometa a segurança ou saúde do trabalhador;</a:t>
            </a:r>
          </a:p>
          <a:p>
            <a:pPr fontAlgn="base"/>
            <a:r>
              <a:rPr lang="pt-BR" dirty="0"/>
              <a:t>Os trabalhadores responsáveis pelo transporte contínuo de cargas devem receber todo treinamento necessário para execução da tarefa de forma totalmente segura (de acordo com as regras definidas pela equipe de saúde e segurança do trabalho);</a:t>
            </a:r>
          </a:p>
          <a:p>
            <a:pPr fontAlgn="base"/>
            <a:r>
              <a:rPr lang="pt-BR" dirty="0"/>
              <a:t>No caso de trabalhadores jovens e mulheres designados para fazer o transporte manual de cargas, o peso máximo das cargas sempre precisa ser menor que o peso aplicado às atividades de transporte manual de cargas exercidas por homens.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NORMA 3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3 – A </a:t>
            </a:r>
            <a:r>
              <a:rPr lang="pt-BR" b="1" dirty="0"/>
              <a:t>NR17</a:t>
            </a:r>
            <a:r>
              <a:rPr lang="pt-BR" dirty="0"/>
              <a:t> determina que, toda vez que um trabalho pode ser realizado na posição sentada, o local de trabalho precisa ser adaptado ou planejado para que o trabalhador possa desempenhar suas atividades nessa posição.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NORMA 4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4 – Todos os trabalhos manuais que são realizados em pé ou sentado devem ser planejados com o uso de mesas, bancadas, painéis e escrivaninhas que favoreçam uma boa postura, operação e visualização por parte dos </a:t>
            </a:r>
            <a:r>
              <a:rPr lang="pt-BR" dirty="0" err="1" smtClean="0"/>
              <a:t>trabalhadr</a:t>
            </a:r>
            <a:r>
              <a:rPr lang="pt-BR" dirty="0" err="1" smtClean="0"/>
              <a:t>o</a:t>
            </a:r>
            <a:r>
              <a:rPr lang="pt-BR" dirty="0" err="1" smtClean="0"/>
              <a:t>es</a:t>
            </a:r>
            <a:r>
              <a:rPr lang="pt-BR" dirty="0" smtClean="0"/>
              <a:t>. Além disso, de acordo com essa norma é preciso observar </a:t>
            </a:r>
            <a:r>
              <a:rPr lang="pt-BR" dirty="0"/>
              <a:t>algumas regras básicas, que </a:t>
            </a:r>
            <a:r>
              <a:rPr lang="pt-BR" dirty="0" smtClean="0"/>
              <a:t>são:</a:t>
            </a:r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85720" y="500042"/>
            <a:ext cx="8229600" cy="4525963"/>
          </a:xfrm>
        </p:spPr>
        <p:txBody>
          <a:bodyPr>
            <a:normAutofit fontScale="92500"/>
          </a:bodyPr>
          <a:lstStyle/>
          <a:p>
            <a:pPr fontAlgn="base"/>
            <a:r>
              <a:rPr lang="pt-BR" dirty="0"/>
              <a:t>A altura e tipo de superfície dos móveis deve ser compatível com o tipo de atividade realizada;</a:t>
            </a:r>
          </a:p>
          <a:p>
            <a:pPr fontAlgn="base"/>
            <a:r>
              <a:rPr lang="pt-BR" dirty="0"/>
              <a:t>Deve ser observada uma distância adequada entre os olhos e o campo de trabalho;</a:t>
            </a:r>
          </a:p>
          <a:p>
            <a:pPr fontAlgn="base"/>
            <a:r>
              <a:rPr lang="pt-BR" dirty="0"/>
              <a:t>A altura do assento deve estar adequada conforme altura do móvel e distância necessária para preservar os olhos;</a:t>
            </a:r>
          </a:p>
          <a:p>
            <a:pPr fontAlgn="base"/>
            <a:r>
              <a:rPr lang="pt-BR" dirty="0"/>
              <a:t>A área de trabalho deve ser facilmente visualizada e alcançada pelo trabalhador;</a:t>
            </a:r>
          </a:p>
          <a:p>
            <a:pPr fontAlgn="base"/>
            <a:r>
              <a:rPr lang="pt-BR" dirty="0"/>
              <a:t>As características dimensionais dos móveis devem possibilitar uma movimentação e posicionamento adequados do corpo (braços, pernas etc.).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NORMA 5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/>
              <a:t>5 – Conforme estabelece a </a:t>
            </a:r>
            <a:r>
              <a:rPr lang="pt-BR" b="1" dirty="0"/>
              <a:t>NR17</a:t>
            </a:r>
            <a:r>
              <a:rPr lang="pt-BR" dirty="0"/>
              <a:t>, todos os assentos usados no ambiente de trabalho precisam atender a esses requisitos:</a:t>
            </a:r>
          </a:p>
          <a:p>
            <a:pPr fontAlgn="base"/>
            <a:r>
              <a:rPr lang="pt-BR" dirty="0"/>
              <a:t>A altura deve estar ajustada à estatura do trabalhador e precisa ser observado o tipo de atividade exercida;</a:t>
            </a:r>
          </a:p>
          <a:p>
            <a:pPr fontAlgn="base"/>
            <a:r>
              <a:rPr lang="pt-BR" dirty="0"/>
              <a:t>O encosto deve ser adaptado para proteger a região lombar;</a:t>
            </a:r>
          </a:p>
          <a:p>
            <a:pPr fontAlgn="base"/>
            <a:r>
              <a:rPr lang="pt-BR" dirty="0"/>
              <a:t>A borda frontal do assento deve ser arredondada.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NORMA 6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/>
              <a:t>6 – A </a:t>
            </a:r>
            <a:r>
              <a:rPr lang="pt-BR" b="1" dirty="0"/>
              <a:t>NR17</a:t>
            </a:r>
            <a:r>
              <a:rPr lang="pt-BR" dirty="0"/>
              <a:t> determina que a organização do trabalho leve em consideração os seguintes aspectos:</a:t>
            </a:r>
          </a:p>
          <a:p>
            <a:pPr fontAlgn="base"/>
            <a:r>
              <a:rPr lang="pt-BR" dirty="0"/>
              <a:t>Normas específicas de produção;</a:t>
            </a:r>
          </a:p>
          <a:p>
            <a:pPr fontAlgn="base"/>
            <a:r>
              <a:rPr lang="pt-BR" dirty="0"/>
              <a:t>Operações a serem realizadas;</a:t>
            </a:r>
          </a:p>
          <a:p>
            <a:pPr fontAlgn="base"/>
            <a:r>
              <a:rPr lang="pt-BR" dirty="0"/>
              <a:t>Exigência de tempo;</a:t>
            </a:r>
          </a:p>
          <a:p>
            <a:pPr fontAlgn="base"/>
            <a:r>
              <a:rPr lang="pt-BR" dirty="0"/>
              <a:t>Determinação do conteúdo de tempo;</a:t>
            </a:r>
          </a:p>
          <a:p>
            <a:pPr fontAlgn="base"/>
            <a:r>
              <a:rPr lang="pt-BR" dirty="0"/>
              <a:t>Ritmo de trabalho;</a:t>
            </a:r>
          </a:p>
          <a:p>
            <a:pPr fontAlgn="base"/>
            <a:r>
              <a:rPr lang="pt-BR" dirty="0"/>
              <a:t>Conteúdo das tarefas.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928670"/>
            <a:ext cx="8074310" cy="5372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50587" y="928670"/>
            <a:ext cx="6378933" cy="5315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642918"/>
            <a:ext cx="7373854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xo">
  <a:themeElements>
    <a:clrScheme name="Flux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x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x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15</TotalTime>
  <Words>189</Words>
  <Application>Microsoft Office PowerPoint</Application>
  <PresentationFormat>Apresentação na tela (4:3)</PresentationFormat>
  <Paragraphs>37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Fluxo</vt:lpstr>
      <vt:lpstr>Norma Regulamentadora 17 </vt:lpstr>
      <vt:lpstr>Objetivo da NR17 </vt:lpstr>
      <vt:lpstr>Slide 3</vt:lpstr>
      <vt:lpstr>NORMA 1 </vt:lpstr>
      <vt:lpstr>NORMA 2</vt:lpstr>
      <vt:lpstr>NORMA 3</vt:lpstr>
      <vt:lpstr>NORMA 4</vt:lpstr>
      <vt:lpstr>Slide 8</vt:lpstr>
      <vt:lpstr>NORMA 5</vt:lpstr>
      <vt:lpstr>NORMA 6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 Regulamentadora 17</dc:title>
  <dc:creator>User</dc:creator>
  <cp:lastModifiedBy>User</cp:lastModifiedBy>
  <cp:revision>3</cp:revision>
  <dcterms:created xsi:type="dcterms:W3CDTF">2020-06-03T01:31:00Z</dcterms:created>
  <dcterms:modified xsi:type="dcterms:W3CDTF">2020-06-03T01:46:59Z</dcterms:modified>
</cp:coreProperties>
</file>