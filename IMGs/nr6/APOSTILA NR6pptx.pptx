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3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8" r:id="rId25"/>
    <p:sldId id="269" r:id="rId26"/>
    <p:sldId id="267" r:id="rId27"/>
    <p:sldId id="270" r:id="rId28"/>
    <p:sldId id="271" r:id="rId29"/>
    <p:sldId id="272" r:id="rId30"/>
    <p:sldId id="273" r:id="rId31"/>
    <p:sldId id="286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A550E-88BB-435E-B331-E3298089C033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344BD-6AF1-45F4-A61B-A58E9C1103F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344BD-6AF1-45F4-A61B-A58E9C1103FD}" type="slidenum">
              <a:rPr lang="pt-BR" smtClean="0"/>
              <a:pPr/>
              <a:t>24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6C8CE36-EC2F-4A35-8887-0CAC1CC9185D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endParaRPr lang="pt-BR" dirty="0" smtClean="0"/>
          </a:p>
          <a:p>
            <a:pPr algn="just"/>
            <a:r>
              <a:rPr lang="pt-BR" dirty="0" smtClean="0"/>
              <a:t>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OBJETIVO: A Norma Regulamentadora NR-6 do MTE prevê a obrigatoriedade da realização do treinamento para os funcionários que utilizem qualquer tipo de EPI, a fim de capacitar e orientar os trabalhadores quanto à necessidade e uso correto dos equipamentos, visando garantir sua segurança e integridade física. </a:t>
            </a:r>
          </a:p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É responsabilidade do empregador: orientar e treinar o trabalhador sobre o uso adequado, guarda e conservação do EPI. 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r>
              <a:rPr lang="pt-BR" dirty="0" smtClean="0"/>
              <a:t> Norma Regulamentadora NR-6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357158" y="1285860"/>
            <a:ext cx="8229600" cy="4525963"/>
          </a:xfrm>
        </p:spPr>
        <p:txBody>
          <a:bodyPr>
            <a:normAutofit fontScale="62500" lnSpcReduction="20000"/>
          </a:bodyPr>
          <a:lstStyle/>
          <a:p>
            <a:endParaRPr lang="pt-BR" dirty="0" smtClean="0"/>
          </a:p>
          <a:p>
            <a:pPr algn="just"/>
            <a:r>
              <a:rPr lang="pt-BR" dirty="0" smtClean="0"/>
              <a:t> 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CONTEÚDO PROGRAMÁTICO </a:t>
            </a:r>
          </a:p>
          <a:p>
            <a:pPr algn="just"/>
            <a:r>
              <a:rPr lang="pt-BR" sz="2800" dirty="0" smtClean="0">
                <a:latin typeface="Arial" pitchFamily="34" charset="0"/>
                <a:cs typeface="Arial" pitchFamily="34" charset="0"/>
              </a:rPr>
              <a:t>Equipamento de proteção Individual, Responsabilidade do Empregador Responsabilidades do Empregado Emissão, comercialização e validação do Certificado de Aprovação – CA Responsabilidade do </a:t>
            </a:r>
            <a:r>
              <a:rPr lang="pt-BR" sz="2800" dirty="0" err="1" smtClean="0">
                <a:latin typeface="Arial" pitchFamily="34" charset="0"/>
                <a:cs typeface="Arial" pitchFamily="34" charset="0"/>
              </a:rPr>
              <a:t>M.T.E.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A- EPI – Proteção da Cabeça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 B- EPI – Para Proteção dos olhos e Face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 C- EPI – Para proteção Auditiva 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D- EPI – Para proteção Respiratória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E- EPI – Para proteção do tronco. 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F- EPI – para proteção dos membros superiores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 G- EPI – para proteção dos membros inferiores 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H- EPI – para proteção do corpo inteiro </a:t>
            </a:r>
          </a:p>
          <a:p>
            <a:pPr algn="just"/>
            <a:r>
              <a:rPr lang="pt-BR" sz="2800" b="1" i="1" dirty="0" smtClean="0">
                <a:latin typeface="Arial" pitchFamily="34" charset="0"/>
                <a:cs typeface="Arial" pitchFamily="34" charset="0"/>
              </a:rPr>
              <a:t>I- EPI – para proteção contra quedas de diferente nível </a:t>
            </a:r>
          </a:p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pt-BR" sz="3600" dirty="0" smtClean="0">
                <a:latin typeface="Arial" pitchFamily="34" charset="0"/>
                <a:cs typeface="Arial" pitchFamily="34" charset="0"/>
              </a:rPr>
              <a:t>Carga Horária- 06H</a:t>
            </a:r>
            <a:br>
              <a:rPr lang="pt-BR" sz="3600" dirty="0" smtClean="0">
                <a:latin typeface="Arial" pitchFamily="34" charset="0"/>
                <a:cs typeface="Arial" pitchFamily="34" charset="0"/>
              </a:rPr>
            </a:br>
            <a:r>
              <a:rPr lang="pt-BR" sz="3600" dirty="0" smtClean="0">
                <a:latin typeface="Arial" pitchFamily="34" charset="0"/>
                <a:cs typeface="Arial" pitchFamily="34" charset="0"/>
              </a:rPr>
              <a:t> Portaria 3214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b="1" dirty="0" smtClean="0">
                <a:latin typeface="Arial" pitchFamily="34" charset="0"/>
                <a:cs typeface="Arial" pitchFamily="34" charset="0"/>
              </a:rPr>
              <a:t>O que é a Norma Regulamentadora (NR6)? </a:t>
            </a:r>
          </a:p>
          <a:p>
            <a:pPr algn="just"/>
            <a:endParaRPr lang="pt-BR" sz="2400" b="1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NR6 trata especificamente do uso dos </a:t>
            </a:r>
            <a:r>
              <a:rPr lang="pt-BR" sz="2400" b="1" dirty="0" err="1" smtClean="0">
                <a:latin typeface="Arial" pitchFamily="34" charset="0"/>
                <a:cs typeface="Arial" pitchFamily="34" charset="0"/>
              </a:rPr>
              <a:t>EPIs</a:t>
            </a: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 – Equipamentos de Proteção Individual no local de trabalho, conforme riscos identificados quanto à saúde e segurança dos trabalhadores. O objetivo dessa norma é estabelecer regras claras para que as empresas evitem acidentes e protejam a saúde do trabalhador, prevenindo as chamadas doenças ocupacionais.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pt-BR" dirty="0" smtClean="0">
                <a:latin typeface="Arial" pitchFamily="34" charset="0"/>
                <a:cs typeface="Arial" pitchFamily="34" charset="0"/>
              </a:rPr>
              <a:t>OBJETIVO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Principais regras da NR6 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A Norma Regulamentadora 6 (NR6) estipula uma série de regras que devem ser cumpridas à risca pelas empresas. 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A não obediência a tais regras acarreta problemas graves como pagamento de multas pesadas e interrupção das atividades. 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Vejamos agora quais são as principais diretrizes estabelecidas por essa norma regulamentadora: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>
                <a:latin typeface="Arial" pitchFamily="34" charset="0"/>
                <a:cs typeface="Arial" pitchFamily="34" charset="0"/>
              </a:rPr>
              <a:t>REGRAS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1 – Por Equipamento de proteção Individual – EPI, entende-se todo produto ou dispositivo de uso individual usado pelo trabalhador com o objetivo de protegê-lo de riscos relacionados à atividade profissional que possam ameaçar a saúde e segurança do trabalhador. Alguns exemplos de </a:t>
            </a:r>
            <a:r>
              <a:rPr lang="pt-BR" dirty="0" err="1" smtClean="0"/>
              <a:t>EPIs</a:t>
            </a:r>
            <a:r>
              <a:rPr lang="pt-BR" dirty="0" smtClean="0"/>
              <a:t> são: capacetes, botas de seguranças, protetores de ouvido etc.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ln w="57150"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pt-BR" sz="3600" dirty="0" smtClean="0">
                <a:latin typeface="Arial" pitchFamily="34" charset="0"/>
                <a:cs typeface="Arial" pitchFamily="34" charset="0"/>
              </a:rPr>
              <a:t>REGRA 1</a:t>
            </a:r>
            <a:endParaRPr lang="pt-BR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2 – Conforme a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NR6 estipula, os equipamentos de proteção individual (nacionais ou importados) só podem ser comercializados mediante indicação do Certificado de Aprovação – CA. </a:t>
            </a:r>
          </a:p>
          <a:p>
            <a:pPr algn="just"/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Quando o equipamento não possui esse certificado, ele não é classificado como EPI por não estar de acordo com as normas de segurança estabelecidas pelo Ministério do Trabalho.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ctr"/>
            <a:r>
              <a:rPr lang="pt-BR" sz="4400" dirty="0" smtClean="0">
                <a:latin typeface="Arial" pitchFamily="34" charset="0"/>
                <a:cs typeface="Arial" pitchFamily="34" charset="0"/>
              </a:rPr>
              <a:t>REGRA 2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3 – Todas as empresas são obrigadas a fornecer </a:t>
            </a:r>
            <a:r>
              <a:rPr lang="pt-BR" dirty="0" err="1" smtClean="0">
                <a:latin typeface="Arial" pitchFamily="34" charset="0"/>
                <a:cs typeface="Arial" pitchFamily="34" charset="0"/>
              </a:rPr>
              <a:t>EPIs</a:t>
            </a:r>
            <a:r>
              <a:rPr lang="pt-BR" dirty="0" smtClean="0">
                <a:latin typeface="Arial" pitchFamily="34" charset="0"/>
                <a:cs typeface="Arial" pitchFamily="34" charset="0"/>
              </a:rPr>
              <a:t> aos seus trabalhadores de forma totalmente gratuita e de acordo com os riscos inerentes às funções executadas. </a:t>
            </a:r>
          </a:p>
          <a:p>
            <a:pPr algn="just"/>
            <a:endParaRPr lang="pt-BR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Tais equipamentos devem apresentar plenas condições de funcionamento e conservação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ln w="381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pt-BR" sz="4000" dirty="0" smtClean="0">
                <a:latin typeface="Arial" pitchFamily="34" charset="0"/>
                <a:cs typeface="Arial" pitchFamily="34" charset="0"/>
              </a:rPr>
              <a:t>REGRA 3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4 – A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NR6 estipula que o SESMT – Serviço Especializado em Engenharia de Segurança e em Medicina do Trabalho,CIPA – Comissão Interna de Prevenção de Acidentes e demais trabalhadores que utilizam </a:t>
            </a:r>
            <a:r>
              <a:rPr lang="pt-BR" b="1" dirty="0" err="1" smtClean="0">
                <a:latin typeface="Arial" pitchFamily="34" charset="0"/>
                <a:cs typeface="Arial" pitchFamily="34" charset="0"/>
              </a:rPr>
              <a:t>EPIs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 façam recomendações ao empregador quanto aos equipamentos mais adequados de acordo com os riscos inerentes a cada tipo de atividade.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ln w="381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pt-BR" sz="4400" dirty="0" smtClean="0">
                <a:latin typeface="Arial" pitchFamily="34" charset="0"/>
                <a:cs typeface="Arial" pitchFamily="34" charset="0"/>
              </a:rPr>
              <a:t>REGRA 4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5 – No caso das empresas que não são obrigadas a constituir o SESMT, é de responsabilidade do empregador escolher os equipamentos de proteção individual de acordo com os riscos apresentados. 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Essa escolha deve ser feita com a devida orientação de um profissional tecnicamente habilitado (Ex.: técnico de segurança do trabalho).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ln w="381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pt-BR" sz="4000" dirty="0" smtClean="0">
                <a:latin typeface="Arial" pitchFamily="34" charset="0"/>
                <a:cs typeface="Arial" pitchFamily="34" charset="0"/>
              </a:rPr>
              <a:t>REGRA 5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sz="2800" dirty="0" smtClean="0">
                <a:latin typeface="Arial" pitchFamily="34" charset="0"/>
                <a:cs typeface="Arial" pitchFamily="34" charset="0"/>
              </a:rPr>
              <a:t>6 – De acordo com a </a:t>
            </a:r>
            <a:r>
              <a:rPr lang="pt-BR" sz="2800" b="1" dirty="0" smtClean="0">
                <a:latin typeface="Arial" pitchFamily="34" charset="0"/>
                <a:cs typeface="Arial" pitchFamily="34" charset="0"/>
              </a:rPr>
              <a:t>NR6, é de responsabilidade do empregador as seguintes ações quanto aos equipamentos de proteção individual: </a:t>
            </a:r>
          </a:p>
          <a:p>
            <a:pPr algn="just"/>
            <a:endParaRPr lang="pt-BR" sz="28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2800" dirty="0" smtClean="0">
                <a:latin typeface="Arial" pitchFamily="34" charset="0"/>
                <a:cs typeface="Arial" pitchFamily="34" charset="0"/>
              </a:rPr>
              <a:t> Comprar equipamentos condizentes com o risco de cada atividade no ambiente de trabalho; </a:t>
            </a:r>
          </a:p>
          <a:p>
            <a:pPr algn="just"/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2800" dirty="0" smtClean="0">
                <a:latin typeface="Arial" pitchFamily="34" charset="0"/>
                <a:cs typeface="Arial" pitchFamily="34" charset="0"/>
              </a:rPr>
              <a:t>Exigir que todos os trabalhadores façam uso do EPI; </a:t>
            </a:r>
          </a:p>
          <a:p>
            <a:pPr algn="just"/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2800" dirty="0" smtClean="0">
                <a:latin typeface="Arial" pitchFamily="34" charset="0"/>
                <a:cs typeface="Arial" pitchFamily="34" charset="0"/>
              </a:rPr>
              <a:t> Entregar aos trabalhadores apenas equipamentos de proteção aprovados pelo Ministério do Trabalho, ou seja, aqueles que possuem CA – Certificado de Aprovação; </a:t>
            </a:r>
          </a:p>
          <a:p>
            <a:pPr algn="just"/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pt-BR" sz="2800" dirty="0" smtClean="0">
                <a:latin typeface="Arial" pitchFamily="34" charset="0"/>
                <a:cs typeface="Arial" pitchFamily="34" charset="0"/>
              </a:rPr>
              <a:t> 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ln w="38100">
            <a:solidFill>
              <a:srgbClr val="00B0F0"/>
            </a:solidFill>
          </a:ln>
        </p:spPr>
        <p:txBody>
          <a:bodyPr/>
          <a:lstStyle/>
          <a:p>
            <a:pPr algn="ctr"/>
            <a:r>
              <a:rPr lang="pt-BR" sz="4400" dirty="0" smtClean="0">
                <a:latin typeface="Arial" pitchFamily="34" charset="0"/>
                <a:cs typeface="Arial" pitchFamily="34" charset="0"/>
              </a:rPr>
              <a:t>REGRA 6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28596" y="1142984"/>
            <a:ext cx="8472518" cy="4649993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Treinar e orientar todos os trabalhadores quanto ao uso correto dos </a:t>
            </a:r>
            <a:r>
              <a:rPr lang="pt-BR" sz="2400" dirty="0" err="1" smtClean="0">
                <a:latin typeface="Arial" pitchFamily="34" charset="0"/>
                <a:cs typeface="Arial" pitchFamily="34" charset="0"/>
              </a:rPr>
              <a:t>EPIs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, assim como maneiras mais indicadas de guardá-los e conservá-los; </a:t>
            </a:r>
          </a:p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Substituir de forma imediata os equipamentos danificados ou sem condições de uso; </a:t>
            </a:r>
          </a:p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 Estabelecer procedimentos para manutenções periódicas e higienização dos equipamentos; </a:t>
            </a:r>
          </a:p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 Informar ao MTE qualquer tipo de irregularidade com relação aos equipamentos; </a:t>
            </a:r>
          </a:p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Registrar as entregas de </a:t>
            </a:r>
            <a:r>
              <a:rPr lang="pt-BR" sz="2400" dirty="0" err="1" smtClean="0">
                <a:latin typeface="Arial" pitchFamily="34" charset="0"/>
                <a:cs typeface="Arial" pitchFamily="34" charset="0"/>
              </a:rPr>
              <a:t>EPIs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 aos trabalhadores, adotando fichas, livros ou demais sistemas de controle que demonstrem: tipo de equipamento, número do CA, data de entrega e assinatura do empregado. </a:t>
            </a:r>
          </a:p>
          <a:p>
            <a:pPr algn="just"/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928662"/>
          </a:xfrm>
          <a:ln w="381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pt-BR" sz="4000" dirty="0" smtClean="0">
                <a:latin typeface="Arial" pitchFamily="34" charset="0"/>
                <a:cs typeface="Arial" pitchFamily="34" charset="0"/>
              </a:rPr>
              <a:t>REGRA 6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668839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NR6 estabelece que, com relação às obrigações dos trabalhadores, devem ser seguidas essas regras: </a:t>
            </a:r>
          </a:p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 O empregado deve usar o equipamento de proteção somente para a finalidade para a qual ele é indicado; </a:t>
            </a:r>
          </a:p>
          <a:p>
            <a:pPr algn="just"/>
            <a:r>
              <a:rPr lang="pt-BR" sz="2400" dirty="0" smtClean="0">
                <a:latin typeface="Arial" pitchFamily="34" charset="0"/>
                <a:cs typeface="Arial" pitchFamily="34" charset="0"/>
              </a:rPr>
              <a:t>Todo trabalhador é responsável por conservar e guardar os equipamentos de forma adequada; </a:t>
            </a:r>
            <a:endParaRPr lang="pt-BR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O empregado deve informar o trabalhador nos casos em que o EPI estiver apresentando problemas quanto ao uso; 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 Obedecer a todas as determinações do empregador quanto ao uso correto de cada EPI. </a:t>
            </a:r>
          </a:p>
          <a:p>
            <a:pPr algn="just"/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  <a:ln w="28575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pt-BR" sz="4400" dirty="0" smtClean="0">
                <a:latin typeface="Arial" pitchFamily="34" charset="0"/>
                <a:cs typeface="Arial" pitchFamily="34" charset="0"/>
              </a:rPr>
              <a:t>REGRA 7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857232"/>
            <a:ext cx="7772400" cy="1470025"/>
          </a:xfrm>
        </p:spPr>
        <p:txBody>
          <a:bodyPr>
            <a:normAutofit fontScale="90000"/>
          </a:bodyPr>
          <a:lstStyle/>
          <a:p>
            <a:pPr marL="342900">
              <a:buFont typeface="Wingdings" pitchFamily="2" charset="2"/>
              <a:buNone/>
            </a:pPr>
            <a:r>
              <a:rPr lang="pt-BR" dirty="0" smtClean="0"/>
              <a:t>                                 </a:t>
            </a:r>
            <a:endParaRPr lang="pt-BR" sz="3200" dirty="0" smtClean="0"/>
          </a:p>
          <a:p>
            <a:pPr marL="342900">
              <a:buFont typeface="Wingdings" pitchFamily="2" charset="2"/>
              <a:buNone/>
            </a:pPr>
            <a:r>
              <a:rPr lang="pt-BR" sz="3200" dirty="0" smtClean="0"/>
              <a:t>       </a:t>
            </a:r>
            <a:r>
              <a:rPr lang="pt-BR" sz="3400" b="1" dirty="0" smtClean="0"/>
              <a:t>EQUIPAMENTOS DE</a:t>
            </a:r>
          </a:p>
          <a:p>
            <a:pPr marL="342900" algn="ctr">
              <a:buFont typeface="Wingdings" pitchFamily="2" charset="2"/>
              <a:buNone/>
            </a:pPr>
            <a:r>
              <a:rPr lang="pt-BR" sz="3400" b="1" dirty="0" smtClean="0"/>
              <a:t>PROTEÇÃO</a:t>
            </a:r>
          </a:p>
          <a:p>
            <a:pPr marL="342900" algn="ctr">
              <a:buFont typeface="Wingdings" pitchFamily="2" charset="2"/>
              <a:buNone/>
            </a:pPr>
            <a:r>
              <a:rPr lang="pt-BR" sz="3400" b="1" dirty="0" smtClean="0"/>
              <a:t>INDIVIDUAL</a:t>
            </a:r>
            <a:endParaRPr lang="pt-BR" sz="3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285860"/>
            <a:ext cx="8229600" cy="4525963"/>
          </a:xfrm>
          <a:noFill/>
          <a:ln/>
        </p:spPr>
        <p:txBody>
          <a:bodyPr/>
          <a:lstStyle/>
          <a:p>
            <a:pPr marL="403225" indent="-403225" algn="just" defTabSz="1074738"/>
            <a:r>
              <a:rPr lang="pt-BR" dirty="0"/>
              <a:t>Equipamento de Proteção Individual é todo  dispositivo ou produto, de uso individual, utilizado pelo trabalhador, destinado a proteção de riscos suscetíveis de ameaçar a segurança e a saúde no </a:t>
            </a:r>
            <a:r>
              <a:rPr lang="pt-BR" dirty="0" smtClean="0"/>
              <a:t>trabalho.</a:t>
            </a:r>
          </a:p>
          <a:p>
            <a:pPr marL="403225" indent="-403225" algn="just" defTabSz="1074738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ctr"/>
            <a:r>
              <a:rPr lang="pt-BR" dirty="0" smtClean="0"/>
              <a:t>CONCEITO LEGAL  DE EPI</a:t>
            </a:r>
            <a:endParaRPr lang="pt-BR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57158" y="3786190"/>
            <a:ext cx="8267700" cy="220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7751" tIns="38876" rIns="77751" bIns="38876"/>
          <a:lstStyle/>
          <a:p>
            <a:pPr marL="403225" indent="-403225" algn="just" defTabSz="1074738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400" dirty="0">
                <a:latin typeface="Verdana" pitchFamily="34" charset="0"/>
                <a:cs typeface="Times New Roman" pitchFamily="18" charset="0"/>
              </a:rPr>
              <a:t>Equipamento  Conjugado de Proteção Individual é todo aquele composto  por vários dispositivos, que o fabricante tenha associado contra um ou mais riscos que possam ocorrer simultaneamente e que sejam suscetíveis  de ameaçar a segurança e saúde do trabalhador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 smtClean="0"/>
              <a:t>PROTEÇÃO </a:t>
            </a:r>
            <a:r>
              <a:rPr lang="pt-BR" dirty="0"/>
              <a:t>DA CABEÇA;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DOS OLHOS E FACE;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AUDITIVA;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RESPIRATÓRIA;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 TRONCO;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DOS MEMBROS SUPERIORES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DOS MEMBOS INFERIORES;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 CORPO INTEIRO;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sz="3500" dirty="0"/>
              <a:t>PROTEÇÃO CONTRA QUEDAS POR DIFERENÇA DE NÍVEL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Equipamento de Proteção Individual – EPI</a:t>
            </a:r>
            <a:r>
              <a:rPr lang="pt-BR" sz="4000" dirty="0" smtClean="0"/>
              <a:t> </a:t>
            </a:r>
            <a:br>
              <a:rPr lang="pt-BR" sz="4000" dirty="0" smtClean="0"/>
            </a:b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7"/>
          <p:cNvSpPr txBox="1">
            <a:spLocks noGrp="1" noChangeArrowheads="1"/>
          </p:cNvSpPr>
          <p:nvPr>
            <p:ph idx="1"/>
          </p:nvPr>
        </p:nvSpPr>
        <p:spPr bwMode="auto">
          <a:xfrm>
            <a:off x="428596" y="1571612"/>
            <a:ext cx="3614734" cy="4233495"/>
          </a:xfrm>
          <a:prstGeom prst="rect">
            <a:avLst/>
          </a:prstGeom>
          <a:noFill/>
          <a:ln w="12699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77751" tIns="38876" rIns="77751" bIns="38876">
            <a:spAutoFit/>
          </a:bodyPr>
          <a:lstStyle/>
          <a:p>
            <a:pPr algn="just" defTabSz="777875" eaLnBrk="0" hangingPunct="0">
              <a:spcBef>
                <a:spcPct val="50000"/>
              </a:spcBef>
            </a:pPr>
            <a:r>
              <a:rPr lang="pt-BR" sz="1800" b="1" dirty="0"/>
              <a:t>Equipamentos destinados a proteger o usuário dos riscos representados pela presença de contaminantes no ar ambiente. O método pelo qual eliminam ou diminuem o risco respiratório baseia-se fundamentalmente na utilização de uma peça facial que isola o usuário do ar contaminado e de um sistema de purificação ou de suprimento de ar respirável.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2910" y="0"/>
            <a:ext cx="8229600" cy="1143000"/>
          </a:xfrm>
        </p:spPr>
        <p:txBody>
          <a:bodyPr/>
          <a:lstStyle/>
          <a:p>
            <a:r>
              <a:rPr lang="pt-BR" dirty="0" smtClean="0"/>
              <a:t>EPI – QUANDO UTILIZÁ-LOS?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1500174"/>
            <a:ext cx="4572032" cy="4638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9196762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2844" y="285728"/>
            <a:ext cx="4757742" cy="5786478"/>
          </a:xfrm>
        </p:spPr>
        <p:txBody>
          <a:bodyPr>
            <a:normAutofit fontScale="25000" lnSpcReduction="20000"/>
          </a:bodyPr>
          <a:lstStyle/>
          <a:p>
            <a:pPr eaLnBrk="0" fontAlgn="base" hangingPunct="0"/>
            <a:r>
              <a:rPr lang="pt-BR" sz="6400" b="1" dirty="0"/>
              <a:t>NEOPRENE</a:t>
            </a:r>
            <a:endParaRPr lang="pt-BR" sz="6400" dirty="0"/>
          </a:p>
          <a:p>
            <a:pPr algn="just" eaLnBrk="0" fontAlgn="base" hangingPunct="0"/>
            <a:r>
              <a:rPr lang="pt-BR" sz="6400" dirty="0"/>
              <a:t>        Estas luvas podem ser usadas para proteção das mãos contra ácidos fracos e fortes, cetonas, sabões e detergentes. Essas luvas são grossas e não são apropriadas para prolongada exposição para solventes </a:t>
            </a:r>
            <a:r>
              <a:rPr lang="pt-BR" sz="6400" dirty="0" err="1"/>
              <a:t>halogenados</a:t>
            </a:r>
            <a:r>
              <a:rPr lang="pt-BR" sz="6400" dirty="0"/>
              <a:t> ou aromáticos. Inspecione as luvas completamente antes de usar cada uma para ter certeza que elas estão livres de defeitos. </a:t>
            </a:r>
            <a:r>
              <a:rPr lang="pt-BR" sz="6400" u="sng" dirty="0"/>
              <a:t>Esta inspeção é especialmente importante ao usar ácidos ou bases fortes, ou soluções quentes.</a:t>
            </a:r>
            <a:r>
              <a:rPr lang="pt-BR" sz="6400" dirty="0"/>
              <a:t> </a:t>
            </a:r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dirty="0" smtClean="0"/>
          </a:p>
          <a:p>
            <a:pPr eaLnBrk="0" fontAlgn="base" hangingPunct="0"/>
            <a:endParaRPr lang="pt-BR" dirty="0" smtClean="0"/>
          </a:p>
          <a:p>
            <a:pPr eaLnBrk="0" fontAlgn="base" hangingPunct="0"/>
            <a:endParaRPr lang="pt-BR" dirty="0" smtClean="0"/>
          </a:p>
          <a:p>
            <a:pPr eaLnBrk="0" fontAlgn="base" hangingPunct="0"/>
            <a:endParaRPr lang="pt-BR" dirty="0"/>
          </a:p>
          <a:p>
            <a:pPr eaLnBrk="0" fontAlgn="base" hangingPunct="0"/>
            <a:r>
              <a:rPr lang="pt-BR" sz="6400" dirty="0" smtClean="0"/>
              <a:t> </a:t>
            </a:r>
            <a:r>
              <a:rPr lang="pt-BR" sz="6400" b="1" dirty="0"/>
              <a:t>BUNA-N (NITRILA)</a:t>
            </a:r>
            <a:endParaRPr lang="pt-BR" sz="6400" dirty="0"/>
          </a:p>
          <a:p>
            <a:pPr algn="just" eaLnBrk="0" fontAlgn="base" hangingPunct="0"/>
            <a:r>
              <a:rPr lang="pt-BR" sz="6400" dirty="0"/>
              <a:t>         Estas luvas podem ser usadas para proteger a mão contra solventes alifáticos, incluindo </a:t>
            </a:r>
            <a:r>
              <a:rPr lang="pt-BR" sz="6400" dirty="0" err="1"/>
              <a:t>Freon</a:t>
            </a:r>
            <a:r>
              <a:rPr lang="pt-BR" sz="6400" dirty="0"/>
              <a:t> TF, álcool </a:t>
            </a:r>
            <a:r>
              <a:rPr lang="pt-BR" sz="6400" dirty="0" err="1"/>
              <a:t>isopropílico</a:t>
            </a:r>
            <a:r>
              <a:rPr lang="pt-BR" sz="6400" dirty="0"/>
              <a:t>, resinas epóxi e </a:t>
            </a:r>
            <a:r>
              <a:rPr lang="pt-BR" sz="6400" dirty="0" err="1"/>
              <a:t>PCBs</a:t>
            </a:r>
            <a:r>
              <a:rPr lang="pt-BR" sz="6400" dirty="0"/>
              <a:t>. Uma proteção limitada é provida contra solventes </a:t>
            </a:r>
            <a:r>
              <a:rPr lang="pt-BR" sz="6400" dirty="0" err="1"/>
              <a:t>halogenados</a:t>
            </a:r>
            <a:r>
              <a:rPr lang="pt-BR" sz="6400" dirty="0"/>
              <a:t>. Luvas de nitrila não são adequadas para usar com cetonas, tais como acetona, MEK e MIBK. Não use por mais de cinco minutos com solventes </a:t>
            </a:r>
            <a:r>
              <a:rPr lang="pt-BR" sz="6400" dirty="0" err="1"/>
              <a:t>halogenados</a:t>
            </a:r>
            <a:r>
              <a:rPr lang="pt-BR" sz="6400" dirty="0"/>
              <a:t>.</a:t>
            </a:r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r>
              <a:rPr lang="pt-BR" dirty="0"/>
              <a:t>                </a:t>
            </a:r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r>
              <a:rPr lang="pt-BR" dirty="0"/>
              <a:t>               </a:t>
            </a:r>
          </a:p>
        </p:txBody>
      </p:sp>
      <p:pic>
        <p:nvPicPr>
          <p:cNvPr id="4" name="Picture 10" descr="BMCISQ0403_html_m180ab6d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42918"/>
            <a:ext cx="2503488" cy="199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9" descr="BMCISQ0403_html_m4c6ced7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3714752"/>
            <a:ext cx="1809750" cy="176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19212" y="1958181"/>
            <a:ext cx="65055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PROTEÇÃO DOS MEMBROS SUPERIORES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928670"/>
            <a:ext cx="8303107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pt-BR" sz="3200" dirty="0" smtClean="0"/>
              <a:t>PROTEÇÃO DOS MEMBROS SUPERIORES</a:t>
            </a:r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62075" y="1858169"/>
            <a:ext cx="641985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PROTEÇÃO DOS MEMBROS SUPERIORES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71600" y="1834356"/>
            <a:ext cx="640080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PROTEÇÃO DOS MEMBROS SUPERIORES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90650" y="1981994"/>
            <a:ext cx="636270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PROTEÇÃO DOS MEMBROS SUPERIORES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2910" y="1357298"/>
            <a:ext cx="8101462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PROTEÇÃO AUDITIVA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8506" y="928670"/>
            <a:ext cx="8458827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85818"/>
          </a:xfr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PROTEÇÃO DOS OLHOS E FACE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85875" y="1805781"/>
            <a:ext cx="657225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PROTEÇÃO DA CABEÇA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2936" y="1357298"/>
            <a:ext cx="870106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PROTEÇÃO DOS OLHOS E FACE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714488"/>
            <a:ext cx="9144000" cy="3658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" pitchFamily="34" charset="0"/>
                <a:cs typeface="Arial" pitchFamily="34" charset="0"/>
              </a:rPr>
              <a:t>PROTEÇÃO  DO CORPO INTEIRO</a:t>
            </a:r>
            <a:endParaRPr lang="pt-BR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95425" y="1824831"/>
            <a:ext cx="615315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pt-BR" sz="3600" dirty="0" smtClean="0">
                <a:latin typeface="Arial" pitchFamily="34" charset="0"/>
                <a:cs typeface="Arial" pitchFamily="34" charset="0"/>
              </a:rPr>
              <a:t>PROTEÇÃO  DO CORPO INTEIRO</a:t>
            </a:r>
            <a:endParaRPr lang="pt-BR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71546"/>
            <a:ext cx="8236252" cy="488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0"/>
            <a:ext cx="8329642" cy="1143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" pitchFamily="34" charset="0"/>
                <a:cs typeface="Arial" pitchFamily="34" charset="0"/>
              </a:rPr>
              <a:t>PROTEÇÃO CONTRA QUEDAS POR DIFERENÇA DE NÍVEL</a:t>
            </a:r>
            <a:endParaRPr lang="pt-BR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ln w="5715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pt-BR" dirty="0" smtClean="0"/>
              <a:t>RESUMO</a:t>
            </a:r>
            <a:endParaRPr lang="pt-B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95809" y="1520309"/>
            <a:ext cx="7352381" cy="4447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71</TotalTime>
  <Words>1235</Words>
  <Application>Microsoft Office PowerPoint</Application>
  <PresentationFormat>Apresentação na tela (4:3)</PresentationFormat>
  <Paragraphs>123</Paragraphs>
  <Slides>31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Concurso</vt:lpstr>
      <vt:lpstr> Norma Regulamentadora NR-6</vt:lpstr>
      <vt:lpstr>Carga Horária- 06H  Portaria 3214</vt:lpstr>
      <vt:lpstr>OBJETIVO</vt:lpstr>
      <vt:lpstr>REGRAS</vt:lpstr>
      <vt:lpstr>REGRA 1</vt:lpstr>
      <vt:lpstr>REGRA 2</vt:lpstr>
      <vt:lpstr>REGRA 3</vt:lpstr>
      <vt:lpstr>REGRA 4</vt:lpstr>
      <vt:lpstr>REGRA 5</vt:lpstr>
      <vt:lpstr>REGRA 6</vt:lpstr>
      <vt:lpstr>REGRA 6</vt:lpstr>
      <vt:lpstr>REGRA 7</vt:lpstr>
      <vt:lpstr>                                         EQUIPAMENTOS DE PROTEÇÃO INDIVIDUAL</vt:lpstr>
      <vt:lpstr>CONCEITO LEGAL  DE EPI</vt:lpstr>
      <vt:lpstr>Equipamento de Proteção Individual – EPI  </vt:lpstr>
      <vt:lpstr>EPI – QUANDO UTILIZÁ-LOS?</vt:lpstr>
      <vt:lpstr>Slide 17</vt:lpstr>
      <vt:lpstr>Slide 18</vt:lpstr>
      <vt:lpstr>PROTEÇÃO DOS MEMBROS SUPERIORES</vt:lpstr>
      <vt:lpstr>PROTEÇÃO DOS MEMBROS SUPERIORES</vt:lpstr>
      <vt:lpstr>PROTEÇÃO DOS MEMBROS SUPERIORES</vt:lpstr>
      <vt:lpstr>PROTEÇÃO DOS MEMBROS SUPERIORES</vt:lpstr>
      <vt:lpstr>PROTEÇÃO DOS MEMBROS SUPERIORES</vt:lpstr>
      <vt:lpstr>PROTEÇÃO AUDITIVA</vt:lpstr>
      <vt:lpstr>PROTEÇÃO DOS OLHOS E FACE</vt:lpstr>
      <vt:lpstr>PROTEÇÃO DA CABEÇA</vt:lpstr>
      <vt:lpstr>PROTEÇÃO DOS OLHOS E FACE</vt:lpstr>
      <vt:lpstr>PROTEÇÃO  DO CORPO INTEIRO</vt:lpstr>
      <vt:lpstr>PROTEÇÃO  DO CORPO INTEIRO</vt:lpstr>
      <vt:lpstr>PROTEÇÃO CONTRA QUEDAS POR DIFERENÇA DE NÍVEL</vt:lpstr>
      <vt:lpstr>RESUMO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EQUIPAMENTOS DE PROTEÇÃO INDIVIDUAL</dc:title>
  <dc:creator>User</dc:creator>
  <cp:lastModifiedBy>User</cp:lastModifiedBy>
  <cp:revision>9</cp:revision>
  <dcterms:created xsi:type="dcterms:W3CDTF">2020-09-24T21:38:00Z</dcterms:created>
  <dcterms:modified xsi:type="dcterms:W3CDTF">2021-02-07T23:32:35Z</dcterms:modified>
</cp:coreProperties>
</file>