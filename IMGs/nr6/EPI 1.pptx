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C6C8CE36-EC2F-4A35-8887-0CAC1CC9185D}" type="datetimeFigureOut">
              <a:rPr lang="pt-BR" smtClean="0"/>
              <a:pPr/>
              <a:t>22/01/2021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22/01/2021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22/01/2021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22/01/2021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22/01/2021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22/01/2021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22/01/2021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22/01/2021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C6C8CE36-EC2F-4A35-8887-0CAC1CC9185D}" type="datetimeFigureOut">
              <a:rPr lang="pt-BR" smtClean="0"/>
              <a:pPr/>
              <a:t>22/01/2021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22/01/2021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6C8CE36-EC2F-4A35-8887-0CAC1CC9185D}" type="datetimeFigureOut">
              <a:rPr lang="pt-BR" smtClean="0"/>
              <a:pPr/>
              <a:t>22/01/2021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C6C8CE36-EC2F-4A35-8887-0CAC1CC9185D}" type="datetimeFigureOut">
              <a:rPr lang="pt-BR" smtClean="0"/>
              <a:pPr/>
              <a:t>22/01/2021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836836C-26C5-4225-A35E-387347DA757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71472" y="857232"/>
            <a:ext cx="7772400" cy="1470025"/>
          </a:xfrm>
        </p:spPr>
        <p:txBody>
          <a:bodyPr>
            <a:normAutofit fontScale="90000"/>
          </a:bodyPr>
          <a:lstStyle/>
          <a:p>
            <a:pPr marL="342900">
              <a:buFont typeface="Wingdings" pitchFamily="2" charset="2"/>
              <a:buNone/>
            </a:pPr>
            <a:r>
              <a:rPr lang="pt-BR" dirty="0" smtClean="0"/>
              <a:t>                                 </a:t>
            </a:r>
            <a:endParaRPr lang="pt-BR" sz="3200" dirty="0" smtClean="0"/>
          </a:p>
          <a:p>
            <a:pPr marL="342900">
              <a:buFont typeface="Wingdings" pitchFamily="2" charset="2"/>
              <a:buNone/>
            </a:pPr>
            <a:r>
              <a:rPr lang="pt-BR" sz="3200" dirty="0" smtClean="0"/>
              <a:t>       </a:t>
            </a:r>
            <a:r>
              <a:rPr lang="pt-BR" sz="3400" b="1" dirty="0" smtClean="0"/>
              <a:t>EQUIPAMENTOS DE</a:t>
            </a:r>
          </a:p>
          <a:p>
            <a:pPr marL="342900" algn="ctr">
              <a:buFont typeface="Wingdings" pitchFamily="2" charset="2"/>
              <a:buNone/>
            </a:pPr>
            <a:r>
              <a:rPr lang="pt-BR" sz="3400" b="1" dirty="0" smtClean="0"/>
              <a:t>PROTEÇÃO</a:t>
            </a:r>
          </a:p>
          <a:p>
            <a:pPr marL="342900" algn="ctr">
              <a:buFont typeface="Wingdings" pitchFamily="2" charset="2"/>
              <a:buNone/>
            </a:pPr>
            <a:r>
              <a:rPr lang="pt-BR" sz="3400" b="1" dirty="0" smtClean="0"/>
              <a:t>INDIVIDUAL</a:t>
            </a:r>
            <a:endParaRPr lang="pt-BR" sz="3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285860"/>
            <a:ext cx="8229600" cy="4525963"/>
          </a:xfrm>
          <a:noFill/>
          <a:ln/>
        </p:spPr>
        <p:txBody>
          <a:bodyPr/>
          <a:lstStyle/>
          <a:p>
            <a:pPr marL="403225" indent="-403225" algn="just" defTabSz="1074738"/>
            <a:r>
              <a:rPr lang="pt-BR" dirty="0"/>
              <a:t>Equipamento de Proteção Individual é todo  dispositivo ou produto, de uso individual, utilizado pelo trabalhador, destinado a proteção de riscos suscetíveis de ameaçar a segurança e a saúde no </a:t>
            </a:r>
            <a:r>
              <a:rPr lang="pt-BR" dirty="0" smtClean="0"/>
              <a:t>trabalho.</a:t>
            </a:r>
          </a:p>
          <a:p>
            <a:pPr marL="403225" indent="-403225" algn="just" defTabSz="1074738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CONCEITO LEGAL  DE EPI</a:t>
            </a:r>
            <a:endParaRPr lang="pt-BR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57158" y="4000504"/>
            <a:ext cx="8267700" cy="220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7751" tIns="38876" rIns="77751" bIns="38876"/>
          <a:lstStyle/>
          <a:p>
            <a:pPr marL="403225" indent="-403225" algn="just" defTabSz="1074738" eaLnBrk="0" hangingPunct="0">
              <a:spcBef>
                <a:spcPct val="50000"/>
              </a:spcBef>
              <a:buFont typeface="Wingdings" pitchFamily="2" charset="2"/>
              <a:buChar char="§"/>
            </a:pPr>
            <a:r>
              <a:rPr lang="pt-BR" sz="2400" dirty="0">
                <a:latin typeface="Verdana" pitchFamily="34" charset="0"/>
                <a:cs typeface="Times New Roman" pitchFamily="18" charset="0"/>
              </a:rPr>
              <a:t>Equipamento  Conjugado de Proteção Individual é todo aquele composto  por vários dispositivos, que o fabricante tenha associado contra um ou mais riscos que possam ocorrer simultaneamente e que sejam suscetíveis  de ameaçar a segurança e saúde do trabalhador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 smtClean="0"/>
              <a:t>PROTEÇÃO </a:t>
            </a:r>
            <a:r>
              <a:rPr lang="pt-BR" dirty="0"/>
              <a:t>DA CABEÇA;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DOS OLHOS E FACE;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AUDITIVA;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RESPIRATÓRIA;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DO TRONCO;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DOS MEMBROS SUPERIORES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DOS MEMBOS INFERIORES;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dirty="0"/>
              <a:t>PROTEÇÃO DO CORPO INTEIRO;</a:t>
            </a:r>
          </a:p>
          <a:p>
            <a:pPr marL="971550" indent="-971550" defTabSz="971550">
              <a:buFont typeface="Wingdings" pitchFamily="2" charset="2"/>
              <a:buChar char="Ø"/>
            </a:pPr>
            <a:r>
              <a:rPr lang="pt-BR" sz="3500" dirty="0"/>
              <a:t>PROTEÇÃO CONTRA QUEDAS POR DIFERENÇA DE NÍVEL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pt-BR" b="1" dirty="0" smtClean="0"/>
              <a:t>Equipamento de Proteção Individual – EPI</a:t>
            </a:r>
            <a:r>
              <a:rPr lang="pt-BR" sz="4000" dirty="0" smtClean="0"/>
              <a:t> </a:t>
            </a:r>
            <a:br>
              <a:rPr lang="pt-BR" sz="4000" dirty="0" smtClean="0"/>
            </a:b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7"/>
          <p:cNvSpPr txBox="1">
            <a:spLocks noGrp="1" noChangeArrowheads="1"/>
          </p:cNvSpPr>
          <p:nvPr>
            <p:ph idx="1"/>
          </p:nvPr>
        </p:nvSpPr>
        <p:spPr bwMode="auto">
          <a:xfrm>
            <a:off x="428596" y="1571612"/>
            <a:ext cx="3614734" cy="4233495"/>
          </a:xfrm>
          <a:prstGeom prst="rect">
            <a:avLst/>
          </a:prstGeom>
          <a:noFill/>
          <a:ln w="12699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 lIns="77751" tIns="38876" rIns="77751" bIns="38876">
            <a:spAutoFit/>
          </a:bodyPr>
          <a:lstStyle/>
          <a:p>
            <a:pPr algn="just" defTabSz="777875" eaLnBrk="0" hangingPunct="0">
              <a:spcBef>
                <a:spcPct val="50000"/>
              </a:spcBef>
            </a:pPr>
            <a:r>
              <a:rPr lang="pt-BR" sz="1800" b="1" dirty="0"/>
              <a:t>Equipamentos destinados a proteger o usuário dos riscos representados pela presença de contaminantes no ar ambiente. O método pelo qual eliminam ou diminuem o risco respiratório baseia-se fundamentalmente na utilização de uma peça facial que isola o usuário do ar contaminado e de um sistema de purificação ou de suprimento de ar respirável. 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2910" y="0"/>
            <a:ext cx="8229600" cy="1143000"/>
          </a:xfrm>
        </p:spPr>
        <p:txBody>
          <a:bodyPr/>
          <a:lstStyle/>
          <a:p>
            <a:r>
              <a:rPr lang="pt-BR" dirty="0" smtClean="0"/>
              <a:t>EPI – QUANDO UTILIZÁ-LOS?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1500174"/>
            <a:ext cx="4572032" cy="4638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9196762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285728"/>
            <a:ext cx="4471990" cy="6143668"/>
          </a:xfrm>
        </p:spPr>
        <p:txBody>
          <a:bodyPr>
            <a:normAutofit fontScale="25000" lnSpcReduction="20000"/>
          </a:bodyPr>
          <a:lstStyle/>
          <a:p>
            <a:pPr eaLnBrk="0" fontAlgn="base" hangingPunct="0"/>
            <a:r>
              <a:rPr lang="pt-BR" sz="6400" b="1" dirty="0"/>
              <a:t>NEOPRENE</a:t>
            </a:r>
            <a:endParaRPr lang="pt-BR" sz="6400" dirty="0"/>
          </a:p>
          <a:p>
            <a:pPr algn="just" eaLnBrk="0" fontAlgn="base" hangingPunct="0"/>
            <a:r>
              <a:rPr lang="pt-BR" sz="6400" dirty="0"/>
              <a:t>        Estas luvas podem ser usadas para proteção das mãos contra ácidos fracos e fortes, cetonas, sabões e detergentes. Essas luvas são grossas e não são apropriadas para prolongada exposição para solventes </a:t>
            </a:r>
            <a:r>
              <a:rPr lang="pt-BR" sz="6400" dirty="0" err="1"/>
              <a:t>halogenados</a:t>
            </a:r>
            <a:r>
              <a:rPr lang="pt-BR" sz="6400" dirty="0"/>
              <a:t> ou aromáticos. Inspecione as luvas completamente antes de usar cada uma para ter certeza que elas estão livres de defeitos. </a:t>
            </a:r>
            <a:r>
              <a:rPr lang="pt-BR" sz="6400" u="sng" dirty="0"/>
              <a:t>Esta inspeção é especialmente importante ao usar ácidos ou bases fortes, ou soluções quentes.</a:t>
            </a:r>
            <a:r>
              <a:rPr lang="pt-BR" sz="6400" dirty="0"/>
              <a:t> </a:t>
            </a:r>
          </a:p>
          <a:p>
            <a:pPr eaLnBrk="0" fontAlgn="base" hangingPunct="0"/>
            <a:endParaRPr lang="pt-BR" sz="6400" dirty="0"/>
          </a:p>
          <a:p>
            <a:pPr eaLnBrk="0" fontAlgn="base" hangingPunct="0"/>
            <a:endParaRPr lang="pt-BR" dirty="0" smtClean="0"/>
          </a:p>
          <a:p>
            <a:pPr eaLnBrk="0" fontAlgn="base" hangingPunct="0"/>
            <a:endParaRPr lang="pt-BR" dirty="0" smtClean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 smtClean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 smtClean="0"/>
          </a:p>
          <a:p>
            <a:pPr eaLnBrk="0" fontAlgn="base" hangingPunct="0"/>
            <a:endParaRPr lang="pt-BR" dirty="0"/>
          </a:p>
          <a:p>
            <a:pPr eaLnBrk="0" fontAlgn="base" hangingPunct="0"/>
            <a:r>
              <a:rPr lang="pt-BR" sz="6400" dirty="0" smtClean="0"/>
              <a:t> </a:t>
            </a:r>
            <a:r>
              <a:rPr lang="pt-BR" sz="6400" b="1" dirty="0"/>
              <a:t>BUNA-N (NITRILA)</a:t>
            </a:r>
            <a:endParaRPr lang="pt-BR" sz="6400" dirty="0"/>
          </a:p>
          <a:p>
            <a:pPr algn="just" eaLnBrk="0" fontAlgn="base" hangingPunct="0"/>
            <a:r>
              <a:rPr lang="pt-BR" sz="6400" dirty="0"/>
              <a:t>         Estas luvas podem ser usadas para proteger a mão contra solventes alifáticos, incluindo </a:t>
            </a:r>
            <a:r>
              <a:rPr lang="pt-BR" sz="6400" dirty="0" err="1"/>
              <a:t>Freon</a:t>
            </a:r>
            <a:r>
              <a:rPr lang="pt-BR" sz="6400" dirty="0"/>
              <a:t> TF, álcool </a:t>
            </a:r>
            <a:r>
              <a:rPr lang="pt-BR" sz="6400" dirty="0" err="1"/>
              <a:t>isopropílico</a:t>
            </a:r>
            <a:r>
              <a:rPr lang="pt-BR" sz="6400" dirty="0"/>
              <a:t>, resinas epóxi e </a:t>
            </a:r>
            <a:r>
              <a:rPr lang="pt-BR" sz="6400" dirty="0" err="1"/>
              <a:t>PCBs</a:t>
            </a:r>
            <a:r>
              <a:rPr lang="pt-BR" sz="6400" dirty="0"/>
              <a:t>. Uma proteção limitada é provida contra solventes </a:t>
            </a:r>
            <a:r>
              <a:rPr lang="pt-BR" sz="6400" dirty="0" err="1"/>
              <a:t>halogenados</a:t>
            </a:r>
            <a:r>
              <a:rPr lang="pt-BR" sz="6400" dirty="0"/>
              <a:t>. Luvas de nitrila não são adequadas para usar com cetonas, tais como acetona, MEK e MIBK. Não use por mais de cinco minutos com solventes </a:t>
            </a:r>
            <a:r>
              <a:rPr lang="pt-BR" sz="6400" dirty="0" err="1"/>
              <a:t>halogenados</a:t>
            </a:r>
            <a:r>
              <a:rPr lang="pt-BR" sz="6400" dirty="0"/>
              <a:t>.</a:t>
            </a:r>
          </a:p>
          <a:p>
            <a:pPr eaLnBrk="0" fontAlgn="base" hangingPunct="0"/>
            <a:endParaRPr lang="pt-BR" sz="6400" dirty="0"/>
          </a:p>
          <a:p>
            <a:pPr eaLnBrk="0" fontAlgn="base" hangingPunct="0"/>
            <a:endParaRPr lang="pt-BR" sz="6400" dirty="0"/>
          </a:p>
          <a:p>
            <a:pPr eaLnBrk="0" fontAlgn="base" hangingPunct="0"/>
            <a:endParaRPr lang="pt-BR" sz="6400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r>
              <a:rPr lang="pt-BR" dirty="0"/>
              <a:t>                </a:t>
            </a:r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endParaRPr lang="pt-BR" dirty="0"/>
          </a:p>
          <a:p>
            <a:pPr eaLnBrk="0" fontAlgn="base" hangingPunct="0"/>
            <a:r>
              <a:rPr lang="pt-BR" dirty="0"/>
              <a:t>               </a:t>
            </a:r>
          </a:p>
        </p:txBody>
      </p:sp>
      <p:pic>
        <p:nvPicPr>
          <p:cNvPr id="4" name="Picture 10" descr="BMCISQ0403_html_m180ab6d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42918"/>
            <a:ext cx="2503488" cy="199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9" descr="BMCISQ0403_html_m4c6ced7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446" y="3929066"/>
            <a:ext cx="1809750" cy="176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319212" y="1958181"/>
            <a:ext cx="6505575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PROTEÇÃO DOS MEMBROS SUPERIORES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928670"/>
            <a:ext cx="8303107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pt-BR" sz="3200" dirty="0" smtClean="0"/>
              <a:t>PROTEÇÃO DOS MEMBROS SUPERIORES</a:t>
            </a:r>
            <a:endParaRPr lang="pt-B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362075" y="1858169"/>
            <a:ext cx="6419850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PROTEÇÃO DOS MEMBROS SUPERIORES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371600" y="1834356"/>
            <a:ext cx="6400800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PROTEÇÃO DOS MEMBROS SUPERIORES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390650" y="1981994"/>
            <a:ext cx="6362700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PROTEÇÃO DOS MEMBROS SUPERIORES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8213" y="1428736"/>
            <a:ext cx="8348487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PROTEÇÃO AUDITIVA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2353" y="1285860"/>
            <a:ext cx="8503051" cy="5026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PROTEÇÃO DOS OLHOS E FACE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285875" y="1805781"/>
            <a:ext cx="6572250" cy="387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PROTEÇÃO DA CABEÇA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42936" y="1357298"/>
            <a:ext cx="8701064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PROTEÇÃO DOS OLHOS E FACE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714488"/>
            <a:ext cx="9144000" cy="3658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PROTEÇÃO  DO CORPO INTEIRO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495425" y="1824831"/>
            <a:ext cx="6153150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PROTEÇÃO  DO CORPO INTEIRO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85860"/>
            <a:ext cx="866488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29642" cy="1143000"/>
          </a:xfrm>
        </p:spPr>
        <p:txBody>
          <a:bodyPr>
            <a:normAutofit/>
          </a:bodyPr>
          <a:lstStyle/>
          <a:p>
            <a:pPr algn="ctr"/>
            <a:r>
              <a:rPr lang="pt-BR" sz="3200" dirty="0" smtClean="0"/>
              <a:t>PROTEÇÃO CONTRA QUEDAS POR DIFERENÇA DE NÍVEL</a:t>
            </a:r>
            <a:endParaRPr lang="pt-B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25</TotalTime>
  <Words>387</Words>
  <Application>Microsoft Office PowerPoint</Application>
  <PresentationFormat>Apresentação na tela (4:3)</PresentationFormat>
  <Paragraphs>61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Concurso</vt:lpstr>
      <vt:lpstr>                                         EQUIPAMENTOS DE PROTEÇÃO INDIVIDUAL</vt:lpstr>
      <vt:lpstr>CONCEITO LEGAL  DE EPI</vt:lpstr>
      <vt:lpstr>Equipamento de Proteção Individual – EPI  </vt:lpstr>
      <vt:lpstr>EPI – QUANDO UTILIZÁ-LOS?</vt:lpstr>
      <vt:lpstr>Slide 5</vt:lpstr>
      <vt:lpstr>Slide 6</vt:lpstr>
      <vt:lpstr>PROTEÇÃO DOS MEMBROS SUPERIORES</vt:lpstr>
      <vt:lpstr>PROTEÇÃO DOS MEMBROS SUPERIORES</vt:lpstr>
      <vt:lpstr>PROTEÇÃO DOS MEMBROS SUPERIORES</vt:lpstr>
      <vt:lpstr>PROTEÇÃO DOS MEMBROS SUPERIORES</vt:lpstr>
      <vt:lpstr>PROTEÇÃO DOS MEMBROS SUPERIORES</vt:lpstr>
      <vt:lpstr>PROTEÇÃO AUDITIVA</vt:lpstr>
      <vt:lpstr>PROTEÇÃO DOS OLHOS E FACE</vt:lpstr>
      <vt:lpstr>PROTEÇÃO DA CABEÇA</vt:lpstr>
      <vt:lpstr>PROTEÇÃO DOS OLHOS E FACE</vt:lpstr>
      <vt:lpstr>PROTEÇÃO  DO CORPO INTEIRO</vt:lpstr>
      <vt:lpstr>PROTEÇÃO  DO CORPO INTEIRO</vt:lpstr>
      <vt:lpstr>PROTEÇÃO CONTRA QUEDAS POR DIFERENÇA DE NÍVEL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EQUIPAMENTOS DE PROTEÇÃO INDIVIDUAL</dc:title>
  <dc:creator>User</dc:creator>
  <cp:lastModifiedBy>User</cp:lastModifiedBy>
  <cp:revision>3</cp:revision>
  <dcterms:created xsi:type="dcterms:W3CDTF">2020-09-24T21:38:00Z</dcterms:created>
  <dcterms:modified xsi:type="dcterms:W3CDTF">2021-01-22T13:20:20Z</dcterms:modified>
</cp:coreProperties>
</file>