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4" r:id="rId3"/>
    <p:sldId id="281" r:id="rId4"/>
    <p:sldId id="282" r:id="rId5"/>
    <p:sldId id="283" r:id="rId6"/>
    <p:sldId id="257" r:id="rId7"/>
    <p:sldId id="25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EB0-035C-4EEA-9C5B-FA99A263B6CA}" type="datetimeFigureOut">
              <a:rPr lang="pt-BR" smtClean="0"/>
              <a:pPr/>
              <a:t>07/02/2021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20EAC-D91B-40F3-907C-E61D3E179A1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0" y="-285776"/>
            <a:ext cx="9144000" cy="9325630"/>
          </a:xfrm>
          <a:prstGeom prst="rect">
            <a:avLst/>
          </a:prstGeom>
          <a:solidFill>
            <a:srgbClr val="92D050"/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endParaRPr lang="pt-BR" sz="6000" b="1" cap="none" spc="0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pt-BR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pt-BR" sz="6000" b="1" cap="none" spc="0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r>
              <a:rPr lang="pt-BR" sz="6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APOSTILA DE NR16</a:t>
            </a:r>
          </a:p>
          <a:p>
            <a:pPr algn="ctr"/>
            <a:r>
              <a:rPr lang="pt-BR" sz="6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DEPTO ENGENHARIA</a:t>
            </a:r>
          </a:p>
          <a:p>
            <a:pPr algn="ctr"/>
            <a:endParaRPr lang="pt-BR" sz="6000" b="1" cap="none" spc="0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pt-BR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pt-BR" sz="6000" b="1" cap="none" spc="0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pt-BR" sz="6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endParaRPr lang="pt-BR" sz="6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3" name="Imagem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4357694"/>
            <a:ext cx="4500594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56065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8229600" cy="11430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>Curso </a:t>
            </a:r>
            <a:r>
              <a:rPr lang="pt-BR" b="1" dirty="0"/>
              <a:t>NR 16 </a:t>
            </a: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> </a:t>
            </a:r>
            <a:r>
              <a:rPr lang="pt-BR" b="1" dirty="0"/>
              <a:t>Atividades e Operações Perigosas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857224" y="1785926"/>
            <a:ext cx="778674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dirty="0"/>
              <a:t>NR. 16.2 O exercício de trabalho em condições de periculosidade assegura ao trabalhador a percepção de adicional de 30% (trinta por cento), incidente sobre o salário, sem os acréscimos resultantes de gratificações, prêmios ou participação nos lucros da empresa</a:t>
            </a:r>
            <a:r>
              <a:rPr lang="pt-BR" sz="3200" dirty="0" smtClean="0"/>
              <a:t>.</a:t>
            </a:r>
          </a:p>
          <a:p>
            <a:pPr algn="just"/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85786" y="500042"/>
            <a:ext cx="7715304" cy="50167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pt-BR" sz="3200" dirty="0"/>
              <a:t>16.2.1 O empregado poderá optar pelo adicional de insalubridade que porventura lhe seja devido</a:t>
            </a:r>
            <a:r>
              <a:rPr lang="pt-BR" sz="3200" dirty="0" smtClean="0"/>
              <a:t>.</a:t>
            </a:r>
          </a:p>
          <a:p>
            <a:pPr algn="just"/>
            <a:r>
              <a:rPr lang="pt-BR" sz="3200" dirty="0"/>
              <a:t/>
            </a:r>
            <a:br>
              <a:rPr lang="pt-BR" sz="3200" dirty="0"/>
            </a:br>
            <a:r>
              <a:rPr lang="pt-BR" sz="3200" dirty="0"/>
              <a:t>16.3 É responsabilidade do empregador a caracterização ou a descaracterização da periculosidade, mediante laudo técnico elaborado por Médico do Trabalho ou Engenheiro de Segurança do Trabalho, nos termos do artigo 195 da CLT. 16.4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285720" y="1071546"/>
            <a:ext cx="8643998" cy="255454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O disposto no item 16.3 não prejudica a a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ç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ão fiscalizadora do Minist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é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rio do Trabalho nem a realiza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ç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ão </a:t>
            </a:r>
            <a:r>
              <a:rPr kumimoji="0" lang="pt-BR" sz="4000" b="0" i="0" u="none" strike="noStrike" cap="none" normalizeH="0" baseline="0" dirty="0" err="1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ex-officio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da per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Calibri"/>
                <a:ea typeface="Times New Roman" pitchFamily="18" charset="0"/>
                <a:cs typeface="Arial" pitchFamily="34" charset="0"/>
              </a:rPr>
              <a:t>í</a:t>
            </a:r>
            <a:r>
              <a:rPr kumimoji="0" lang="pt-BR" sz="4000" b="0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cia</a:t>
            </a:r>
            <a:endParaRPr kumimoji="0" lang="pt-B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pt-BR" dirty="0" smtClean="0"/>
              <a:t>NR 16</a:t>
            </a:r>
            <a:endParaRPr lang="pt-B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71612"/>
            <a:ext cx="7072341" cy="475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279" y="571480"/>
            <a:ext cx="8194183" cy="55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035" y="285728"/>
            <a:ext cx="7922077" cy="5600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528" y="642918"/>
            <a:ext cx="7753124" cy="5545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738" y="500042"/>
            <a:ext cx="7599724" cy="543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642918"/>
            <a:ext cx="8929718" cy="504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8794469" cy="423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264" y="642918"/>
            <a:ext cx="8062826" cy="543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7656" y="714356"/>
            <a:ext cx="7909280" cy="5143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94" y="571479"/>
            <a:ext cx="7683768" cy="5248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57166"/>
            <a:ext cx="7683934" cy="525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500042"/>
            <a:ext cx="7950813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57166"/>
            <a:ext cx="7679973" cy="5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61091"/>
            <a:ext cx="7072362" cy="647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RESUMINDO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285720" y="1428736"/>
            <a:ext cx="885828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NR 16 Atividades e Operações Perigosas</a:t>
            </a:r>
            <a:endParaRPr lang="pt-BR" sz="3200" dirty="0"/>
          </a:p>
          <a:p>
            <a:pPr algn="ctr"/>
            <a:r>
              <a:rPr lang="pt-BR" sz="3200" b="1" dirty="0">
                <a:solidFill>
                  <a:srgbClr val="00B050"/>
                </a:solidFill>
              </a:rPr>
              <a:t>Higiene e Segurança do Trabalho</a:t>
            </a:r>
          </a:p>
          <a:p>
            <a:pPr algn="just"/>
            <a:r>
              <a:rPr lang="pt-BR" sz="3200" dirty="0" smtClean="0"/>
              <a:t>    São </a:t>
            </a:r>
            <a:r>
              <a:rPr lang="pt-BR" sz="3200" dirty="0"/>
              <a:t>consideradas atividades ou operações perigosas, na forma da regulamentação aprovada pelo Ministério do Trabalho, aqueles que, por sua natureza ou métodos de trabalho, </a:t>
            </a:r>
            <a:r>
              <a:rPr lang="pt-BR" sz="3200" dirty="0" smtClean="0"/>
              <a:t>impliquem:</a:t>
            </a:r>
          </a:p>
          <a:p>
            <a:pPr algn="just"/>
            <a:r>
              <a:rPr lang="pt-BR" sz="3200" dirty="0" smtClean="0"/>
              <a:t> o contato permanente com</a:t>
            </a:r>
            <a:r>
              <a:rPr lang="pt-BR" sz="3200" dirty="0"/>
              <a:t> </a:t>
            </a:r>
            <a:r>
              <a:rPr lang="pt-BR" sz="3200" b="1" u="sng" dirty="0"/>
              <a:t>inflamáveis</a:t>
            </a:r>
            <a:r>
              <a:rPr lang="pt-BR" sz="3200" dirty="0"/>
              <a:t> ou </a:t>
            </a:r>
            <a:r>
              <a:rPr lang="pt-BR" sz="3200" b="1" u="sng" dirty="0"/>
              <a:t>explosivos</a:t>
            </a:r>
            <a:r>
              <a:rPr lang="pt-BR" sz="3200" dirty="0"/>
              <a:t> em condições de risco </a:t>
            </a:r>
            <a:r>
              <a:rPr lang="pt-BR" sz="3200" dirty="0" smtClean="0"/>
              <a:t>acentuado.</a:t>
            </a:r>
          </a:p>
          <a:p>
            <a:pPr algn="just"/>
            <a:endParaRPr lang="pt-BR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428604"/>
            <a:ext cx="871540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 smtClean="0"/>
              <a:t>São consideradas atividades ou operações perigosas, na forma da regulamentação aprovada pelo Ministério do Trabalho, aqueles que, por sua natureza ou métodos de trabalho, impliquem o contato permanente com </a:t>
            </a:r>
            <a:r>
              <a:rPr lang="pt-BR" sz="2800" b="1" u="sng" dirty="0" smtClean="0"/>
              <a:t>inflamáveis </a:t>
            </a:r>
            <a:r>
              <a:rPr lang="pt-BR" sz="2800" dirty="0" smtClean="0"/>
              <a:t>ou </a:t>
            </a:r>
            <a:r>
              <a:rPr lang="pt-BR" sz="2800" b="1" u="sng" dirty="0" smtClean="0"/>
              <a:t>explosivos</a:t>
            </a:r>
            <a:r>
              <a:rPr lang="pt-BR" sz="2800" dirty="0" smtClean="0"/>
              <a:t> em condições de risco acentuado</a:t>
            </a:r>
          </a:p>
          <a:p>
            <a:pPr algn="just"/>
            <a:endParaRPr lang="pt-BR" sz="2800" dirty="0" smtClean="0"/>
          </a:p>
          <a:p>
            <a:pPr algn="just"/>
            <a:r>
              <a:rPr lang="pt-BR" sz="2800" dirty="0" smtClean="0"/>
              <a:t>Explosivos são substancias capazes de rapidamente se transformarem em gases, produzindo calor intenso e pressões elevadas.</a:t>
            </a:r>
          </a:p>
          <a:p>
            <a:pPr algn="just"/>
            <a:endParaRPr lang="pt-BR" sz="2800" dirty="0" smtClean="0"/>
          </a:p>
          <a:p>
            <a:pPr algn="just"/>
            <a:r>
              <a:rPr lang="pt-BR" sz="2800" dirty="0" smtClean="0"/>
              <a:t>Explosivos são substancias capazes de rapidamente se transformarem em gases, produzindo calor intenso e pressões elevadas.</a:t>
            </a:r>
            <a:endParaRPr lang="pt-BR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Armazenamento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071538" y="1142984"/>
            <a:ext cx="707236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pt-BR" sz="3200" dirty="0" smtClean="0"/>
              <a:t>Armazenamento</a:t>
            </a:r>
          </a:p>
          <a:p>
            <a:pPr marL="342900" indent="-342900"/>
            <a:endParaRPr lang="pt-BR" sz="3200" dirty="0"/>
          </a:p>
          <a:p>
            <a:pPr marL="342900" indent="-342900">
              <a:buFont typeface="Wingdings" pitchFamily="2" charset="2"/>
              <a:buChar char="Ø"/>
            </a:pPr>
            <a:r>
              <a:rPr lang="pt-BR" sz="3200" dirty="0" smtClean="0"/>
              <a:t>Transporte</a:t>
            </a:r>
          </a:p>
          <a:p>
            <a:pPr marL="342900" indent="-342900"/>
            <a:endParaRPr lang="pt-BR" sz="32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pt-BR" sz="3200" dirty="0" err="1" smtClean="0"/>
              <a:t>Escorva</a:t>
            </a:r>
            <a:r>
              <a:rPr lang="pt-BR" sz="3200" dirty="0" smtClean="0"/>
              <a:t> </a:t>
            </a:r>
            <a:r>
              <a:rPr lang="pt-BR" sz="3200" dirty="0"/>
              <a:t>dos cartuchos de </a:t>
            </a:r>
            <a:r>
              <a:rPr lang="pt-BR" sz="3200" dirty="0" smtClean="0"/>
              <a:t>explosivos</a:t>
            </a:r>
          </a:p>
          <a:p>
            <a:pPr marL="342900" indent="-342900"/>
            <a:endParaRPr lang="pt-BR" sz="3200" dirty="0"/>
          </a:p>
          <a:p>
            <a:pPr marL="342900" indent="-342900">
              <a:buFont typeface="Wingdings" pitchFamily="2" charset="2"/>
              <a:buChar char="Ø"/>
            </a:pPr>
            <a:r>
              <a:rPr lang="pt-BR" sz="3200" dirty="0"/>
              <a:t>Carregamento de </a:t>
            </a:r>
            <a:r>
              <a:rPr lang="pt-BR" sz="3200" dirty="0" smtClean="0"/>
              <a:t>explosivos</a:t>
            </a:r>
          </a:p>
          <a:p>
            <a:pPr marL="342900" indent="-342900"/>
            <a:endParaRPr lang="pt-BR" sz="3200" dirty="0"/>
          </a:p>
          <a:p>
            <a:pPr marL="342900" indent="-342900">
              <a:buFont typeface="Wingdings" pitchFamily="2" charset="2"/>
              <a:buChar char="Ø"/>
            </a:pPr>
            <a:r>
              <a:rPr lang="pt-BR" sz="3200" dirty="0" smtClean="0"/>
              <a:t>Detonação</a:t>
            </a:r>
          </a:p>
          <a:p>
            <a:pPr marL="342900" indent="-342900"/>
            <a:endParaRPr lang="pt-BR" sz="3200" dirty="0"/>
          </a:p>
          <a:p>
            <a:pPr marL="342900" indent="-342900">
              <a:buFont typeface="Wingdings" pitchFamily="2" charset="2"/>
              <a:buChar char="Ø"/>
            </a:pPr>
            <a:r>
              <a:rPr lang="pt-BR" sz="3200" dirty="0"/>
              <a:t>Manuseio de Explosivos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857232"/>
            <a:ext cx="8229600" cy="1143000"/>
          </a:xfrm>
        </p:spPr>
        <p:txBody>
          <a:bodyPr>
            <a:noAutofit/>
          </a:bodyPr>
          <a:lstStyle/>
          <a:p>
            <a:r>
              <a:rPr lang="pt-BR" sz="2800" dirty="0" smtClean="0"/>
              <a:t>.</a:t>
            </a:r>
            <a:r>
              <a:rPr lang="pt-BR" sz="2800" dirty="0"/>
              <a:t/>
            </a:r>
            <a:br>
              <a:rPr lang="pt-BR" sz="2800" dirty="0"/>
            </a:br>
            <a:endParaRPr lang="pt-BR" sz="2800" dirty="0"/>
          </a:p>
        </p:txBody>
      </p:sp>
      <p:sp>
        <p:nvSpPr>
          <p:cNvPr id="3" name="Retângulo 2"/>
          <p:cNvSpPr/>
          <p:nvPr/>
        </p:nvSpPr>
        <p:spPr>
          <a:xfrm>
            <a:off x="571472" y="642918"/>
            <a:ext cx="8072494" cy="153888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pt-BR" sz="4000" dirty="0" smtClean="0"/>
              <a:t>Liquido inflamável </a:t>
            </a:r>
          </a:p>
          <a:p>
            <a:endParaRPr lang="pt-BR" dirty="0"/>
          </a:p>
          <a:p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42844" y="2786058"/>
            <a:ext cx="85725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600" dirty="0"/>
              <a:t>É</a:t>
            </a:r>
            <a:r>
              <a:rPr lang="pt-BR" sz="3600" dirty="0" smtClean="0"/>
              <a:t> todo aquele que possui ponto de fulgor igual ou superior a 70ºC e inferior a 93,3ºC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t-BR" dirty="0"/>
              <a:t>Produção, Transporte, Processamento e Armazenamento de Gás </a:t>
            </a:r>
            <a:r>
              <a:rPr lang="pt-BR" dirty="0" smtClean="0"/>
              <a:t>Liquefeito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357158" y="1348800"/>
            <a:ext cx="857256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dirty="0" smtClean="0"/>
              <a:t>Carregamento </a:t>
            </a:r>
            <a:r>
              <a:rPr lang="pt-BR" sz="3200" dirty="0"/>
              <a:t>e Descarregamento de navios-tanque, vagões-tanque, caminhões-tanque com inflamáveis líquidos ou gasosos</a:t>
            </a:r>
            <a:r>
              <a:rPr lang="pt-BR" sz="3200" dirty="0" smtClean="0"/>
              <a:t>;</a:t>
            </a:r>
          </a:p>
          <a:p>
            <a:pPr algn="just"/>
            <a:r>
              <a:rPr lang="pt-BR" sz="3200" dirty="0" smtClean="0"/>
              <a:t>Postos </a:t>
            </a:r>
            <a:r>
              <a:rPr lang="pt-BR" sz="3200" dirty="0"/>
              <a:t>de realização de Abastecimento de Aeronaves</a:t>
            </a:r>
            <a:r>
              <a:rPr lang="pt-BR" sz="3200" dirty="0" smtClean="0"/>
              <a:t>;</a:t>
            </a:r>
          </a:p>
          <a:p>
            <a:pPr algn="just"/>
            <a:r>
              <a:rPr lang="pt-BR" sz="3200" dirty="0" smtClean="0"/>
              <a:t>Operação </a:t>
            </a:r>
            <a:r>
              <a:rPr lang="pt-BR" sz="3200" dirty="0"/>
              <a:t>em postos de Serviço e bombas de abastecimento de inflamáveis líquidos</a:t>
            </a:r>
            <a:r>
              <a:rPr lang="pt-BR" sz="3200" dirty="0" smtClean="0"/>
              <a:t>;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No transporte de vasilhames (em caminhões) contendo inflamável gasoso ou líquido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5720" y="357166"/>
            <a:ext cx="8229600" cy="542928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just"/>
            <a:r>
              <a:rPr lang="pt-BR" dirty="0"/>
              <a:t>Vale lembrar que o combustível que temos nos nossos carros para consumo próprio não são considerados nesta norma</a:t>
            </a:r>
            <a:r>
              <a:rPr lang="pt-BR" dirty="0" smtClean="0"/>
              <a:t>.</a:t>
            </a:r>
            <a:br>
              <a:rPr lang="pt-BR" dirty="0" smtClean="0"/>
            </a:br>
            <a:r>
              <a:rPr lang="pt-BR" dirty="0" smtClean="0"/>
              <a:t> 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Ela </a:t>
            </a:r>
            <a:r>
              <a:rPr lang="pt-BR" dirty="0"/>
              <a:t>abrange somente o transporte de combustível acima de 200 Litros para inflamáveis líquidos e 135 Litros para inflamável gasoso.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85786" y="571480"/>
            <a:ext cx="7643866" cy="20621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pt-BR" sz="3200" dirty="0"/>
              <a:t>Corresponde apenas ao </a:t>
            </a:r>
            <a:r>
              <a:rPr lang="pt-BR" sz="3200" b="1" dirty="0"/>
              <a:t>“risco” </a:t>
            </a:r>
            <a:r>
              <a:rPr lang="pt-BR" sz="3200" dirty="0"/>
              <a:t>que não age contra a integridade biológica do trabalhador, mas que eventualmente pode atingi-lo de forma violenta.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785786" y="3286124"/>
            <a:ext cx="7643866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pt-BR" sz="3200" dirty="0"/>
              <a:t>O exercício do trabalho em atividades e operações perigosas implica ao trabalhador a percepção de um adicional de 30% no salário, sem acréscimos resultantes de gratificações, prêmios ou participação de lucros da empresa;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642910" y="857232"/>
            <a:ext cx="7858148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r>
              <a:rPr kumimoji="0" lang="pt-BR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O exercício do trabalho em atividades e operações perigosas implica ao trabalhador a percepção de um adicional de 30% no salário, sem acréscimos resultantes de gratificações, prêmios ou participação de lucros da empresa;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endParaRPr lang="pt-BR" sz="2800" dirty="0">
              <a:solidFill>
                <a:srgbClr val="333333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endParaRPr kumimoji="0" lang="pt-B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228600" algn="l"/>
              </a:tabLst>
            </a:pPr>
            <a:r>
              <a:rPr kumimoji="0" lang="pt-BR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O trabalhador poderá optar pelo adicional de insalubridade que lhe seja devido (Insalubridade é tratada pela NR15).</a:t>
            </a:r>
            <a:endParaRPr kumimoji="0" lang="pt-B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0" y="857232"/>
            <a:ext cx="9144000" cy="353943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É de responsabilidade das empresas e sindicatos das categorias profissionais interessadas requererem ao Ministério do Trabalho, através das Delegacias Regionais do Trabalho, a </a:t>
            </a:r>
            <a:r>
              <a:rPr kumimoji="0" lang="pt-BR" sz="3200" b="1" i="0" u="sng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realização de perícia</a:t>
            </a:r>
            <a:r>
              <a:rPr kumimoji="0" lang="pt-BR" sz="32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 </a:t>
            </a: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em estabelecimento ou setor da empresa, com o objetivo de caracterizar e classificar ou determinar atividade perigosa.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pt-BR" b="1" dirty="0"/>
              <a:t>Não se caracteriza Periculosidade</a:t>
            </a:r>
            <a:endParaRPr lang="pt-BR" dirty="0"/>
          </a:p>
        </p:txBody>
      </p:sp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285720" y="2071678"/>
            <a:ext cx="857256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O manuseio, armazenagem e o transporte de líquidos inflamáveis contidos em embalagens Certificadas, ou: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O manuseio, armazenagem e o transporte de líquidos inflamáveis em recipientes de até 5 Litros lacrados na fabricação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t-BR" b="1" dirty="0"/>
              <a:t>O que é uma Área de Risco?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96" y="1571612"/>
            <a:ext cx="842968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Área de risco são os locais delimitados fisicamente, ou por sinalizações específicas, reconhecidamente perigosos, nos quais são executadas as atividades e operações perigosas.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28596" y="4071942"/>
            <a:ext cx="8501122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Locais de armazenagem de pólvoras químicas, artifícios pirotécnicos e produtos químicos usados na fabricação de misturas explosivas ou de fogos de artifício compreendidos nesta tabela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505</Words>
  <Application>Microsoft Office PowerPoint</Application>
  <PresentationFormat>Apresentação na tela (4:3)</PresentationFormat>
  <Paragraphs>63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Tema do Office</vt:lpstr>
      <vt:lpstr>Slide 1</vt:lpstr>
      <vt:lpstr>Slide 2</vt:lpstr>
      <vt:lpstr> Curso NR 16   Atividades e Operações Perigosas </vt:lpstr>
      <vt:lpstr>Slide 4</vt:lpstr>
      <vt:lpstr>Slide 5</vt:lpstr>
      <vt:lpstr>NR 16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RESUMINDO</vt:lpstr>
      <vt:lpstr>Slide 21</vt:lpstr>
      <vt:lpstr>Armazenamento </vt:lpstr>
      <vt:lpstr>. </vt:lpstr>
      <vt:lpstr>Produção, Transporte, Processamento e Armazenamento de Gás Liquefeito</vt:lpstr>
      <vt:lpstr>Vale lembrar que o combustível que temos nos nossos carros para consumo próprio não são considerados nesta norma.   Ela abrange somente o transporte de combustível acima de 200 Litros para inflamáveis líquidos e 135 Litros para inflamável gasoso.</vt:lpstr>
      <vt:lpstr>Slide 26</vt:lpstr>
      <vt:lpstr>Slide 27</vt:lpstr>
      <vt:lpstr>Slide 28</vt:lpstr>
      <vt:lpstr>Não se caracteriza Periculosidade</vt:lpstr>
      <vt:lpstr>O que é uma Área de Risco?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17</cp:revision>
  <dcterms:created xsi:type="dcterms:W3CDTF">2017-04-19T21:27:51Z</dcterms:created>
  <dcterms:modified xsi:type="dcterms:W3CDTF">2021-02-08T01:26:04Z</dcterms:modified>
</cp:coreProperties>
</file>